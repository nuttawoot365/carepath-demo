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เปิดด้วยประโยคเดียว: วันนี้เรามาแก้ปัญหาที่ทุกคนในห้องนี้เคยเห็น — ผู้ป่วยยืนงงกลางโถงโรงพยาบาล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อย่าเล่ายาว ให้กรรมการที่เป็นคนโรงพยาบาลพยักหน้าเอง แล้วข้ามไป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ย้ำข้อสุดท้าย ถ้าระบบเพิ่มภาระ เจ้าหน้าที่จะไม่กด แล้วระบบก็ตาย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ขายจุดนี้กับฝ่ายอาคารสถานที่ เขาคือคนที่รู้ว่าผังเปลี่ยนบ่อยแค่ไหน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ตรงนี้เปิด map.html สาธิตสดได้ กดปุ่มปิดลิฟต์ B แล้วชี้ให้ดูว่าเส้นเปลี่ยน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สไลด์ที่ควรหยุดนานที่สุด · ตัวเลขคำนวณจากผังจริงในระบบ ถ้าถูกถามให้เปิด impact.html ดูสด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ระบบเลือกสิ่งที่ถูกต้อง ไม่ใช่สิ่งที่วัดง่าย ถ้าไม่พูดเอง กรรมการจะนึกว่าเราแค่หาทางสั้นสุด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ประมาณ 30% ของผู้ป่วยโรงพยาบาลรัฐไม่ใช้สมาร์ตโฟน ถ้าระบบใช้ได้เฉพาะคนมีมือถือ ก็แก้ปัญหาให้คนที่เดือดร้อนน้อยที่สุด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ลูกศร ไอคอน และตัวเลขไม่ต้องแปล นั่นคือเหตุผลที่ออกแบบให้สัญลักษณ์มาก่อนภาษาตั้งแต่ต้น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ถ้าถูกถามว่าขึ้นใช้จริงได้เลยไหม ตอบตรงว่ายัง กลไกทางเทคนิคพร้อม แต่ยังขาดเอกสารและกระบวนการที่ PDPA บังคับ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จุดแข็งที่แท้จริงเวลาคุยกับคนโรงพยาบาล ทุกทีมจะพูดแต่ข้อดี ทีมที่กล้าบอกว่าอะไรไม่จริง คือทีมที่เชื่อตัวเลขที่เหลือได้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บอกสถานะตรง ๆ ดีกว่าให้กรรมการกดเจอเอง ถ้าถามว่าทำไมยังไม่มี API ตอบเรื่องข้อจำกัดของ Cloudflare Workers สามข้อที่บันทึกไว้ใน README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ปิดด้วยข้อสุดท้าย เพราะคำถามแรกของโรงพยาบาลคือ ต้องเปลี่ยนระบบเดิมไหม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จบด้วยประโยคนี้แล้วหยุด อย่าต่อท้าย ถ้ามีเวลาเหลือให้เปิดระบบจริงสาธิตแทนการพูด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HACKATHON 977-121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1105783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CarePath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74320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ระบบนำทางในโรงพยาบาลและติดตามขั้นตอนการรักษา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520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ผู้ป่วยรู้ตลอดทั้งวันว่าตอนนี้ต้องไปที่ไหน และไปยังไง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ระบบสาธิตสำหรับโรงพยาบาลวชิระภูเก็ต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97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carepath-vachira.nuttawoot-star.workers.dev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ป้ายบอกทางบอกได้แค่ว่า “ห้องนี้อยู่ไหน”</a:t>
            </a:r>
            <a:endParaRPr lang="en-US" sz="3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ไม่ได้บอกว่า “คุณต้องไปไหนต่อ”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2468880"/>
            <a:ext cx="3503066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267004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ผู้ป่วยถือบัตรคิวแล้วเดินหลง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3291840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ลำดับขั้นอยู่ในหัวเจ้าหน้าที่ ไม่ได้อยู่ในมือผู้ป่วย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4314" y="2468880"/>
            <a:ext cx="3503066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267004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ผู้สูงอายุและรถเข็นเดินย้อนไปมา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3291840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เส้นทางเดียวกันสำหรับทุกคน ทั้งที่บันไดไม่ใช่ทางเลือกของทุกคน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1701" y="2468880"/>
            <a:ext cx="3503066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9445" y="267004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แรงงานต่างชาติอ่านป้ายไม่ออก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9445" y="3291840"/>
            <a:ext cx="302757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ภูเก็ตมีทั้งเมียนมา จีน และรัสเซีย แต่ป้ายมีสองภาษา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สี่หน้าจอ ต่อกันเป็นวงจรเดียว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  เวชระเบียน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ถามความต้องการพิเศษครั้งเดียว แล้วพิมพ์บัตรคิวพร้อมคิวอาร์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8538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26282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  ผู้ป่วย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26282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สแกนแล้วเห็นทันทีว่าไปไหนต่อ พร้อมเส้นทางทีละเลี้ยว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0148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7892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  จุดบริการ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7892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เจ้าหน้าที่กดปุ่มเดียว ขั้นถัดไปเด้งขึ้นมือถือผู้ป่วยเอง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31757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69501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04  ผู้ดูแลระบบ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69501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แก้ผัง ปิดเส้นทาง และเห็นว่าการปิดนั้นกระทบใคร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937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งานที่เพิ่มให้เจ้าหน้าที่ต่อผู้ป่วยหนึ่งคน คือการกดปุ่มสองวินาที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แผนที่งอกจากข้อมูล ไม่ใช่รูปที่ล้าสมัยทันทีที่ย้ายห้อง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08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โรงพยาบาลย้ายห้องทุกปี แต่ผังบนผนังไม่ได้ย้ายตาม ระบบนี้จึงเก็บแผนที่เป็นข้อมูลสองไฟล์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50306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4871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nodes.csv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880360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794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จุดในผัง · 8 ชั้น · 3 อาคาร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4314" y="2286000"/>
            <a:ext cx="350306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2058" y="24871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edges.csv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880360"/>
            <a:ext cx="30275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7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82058" y="37947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ทิศทางเดิน พร้อมระยะและเวลา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1701" y="2286000"/>
            <a:ext cx="3503066" cy="2286000"/>
          </a:xfrm>
          <a:prstGeom prst="roundRect">
            <a:avLst>
              <a:gd name="adj" fmla="val 4800"/>
            </a:avLst>
          </a:prstGeom>
          <a:solidFill>
            <a:srgbClr val="E4F0F4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59445" y="248716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แก้สองไฟล์นี้แล้วเปลี่ยนตามทั้งหมด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59445" y="3108960"/>
            <a:ext cx="30275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C4C5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แผนที่รวม · แผนที่รายชั้น · แผนที่ผู้ป่วย · คำสั่งนำทาง · การตรวจผังอัตโนมัติ — โดยไม่ต้องแก้โค้ดสักบรรทัด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เส้นทางคิดจากคน ไม่ใช่จากระยะทาง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71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สถานการณ์เดียวกัน จุดคัดกรองไปห้องเจาะเลือด ตอนลิฟต์ B ปิดซ่อม ระบบให้คำตอบคนละแบบ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1828800"/>
                <a:gridCol w="1819656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ใคร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ระบบเลือกทางไหน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ระยะทาง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ช่วงที่ต้องเดิน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คนเดินปกติ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บันได B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136 ม.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ผู้ใช้รถเข็น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อ้อมทางเชื่อมและทางลาดอาคาร C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331 ม.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2730"/>
                          </a:solidFill>
                          <a:latin typeface="Sarabun" pitchFamily="34" charset="0"/>
                          <a:ea typeface="Sarabun" pitchFamily="34" charset="-122"/>
                          <a:cs typeface="Sarabun" pitchFamily="34" charset="-120"/>
                        </a:rPr>
                        <a:t>5</a:t>
                      </a:r>
                      <a:endParaRPr lang="en-US" sz="1400" dirty="0">
                        <a:latin typeface="Sarabun" charset="0"/>
                        <a:ea typeface="Sarabun" charset="0"/>
                        <a:cs typeface="Sarabun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3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4297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F6F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คำนวณสดด้วย Dijkstra ทุกครั้งที่เปิดหน้า ไม่ได้วาดเส้นทางทิ้งไว้ล่วงหน้า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F6F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ปิดลิฟต์บนจอแล้วเส้นบนแผนที่เปลี่ยนให้เห็นกับตา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0292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จุดแข็งที่ยังไม่มีใครทำ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ปิดลิฟต์หนึ่งตัว กระทบคนไม่เท่ากัน</a:t>
            </a:r>
            <a:endParaRPr lang="en-US" sz="3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และคนที่กดปิดมองไม่เห็น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2697480"/>
            <a:ext cx="3503066" cy="2148840"/>
          </a:xfrm>
          <a:prstGeom prst="roundRect">
            <a:avLst>
              <a:gd name="adj" fmla="val 5106"/>
            </a:avLst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907792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คนเดินปกติ ต้องเดินเพิ่ม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2991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31596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เมตร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4314" y="2697480"/>
            <a:ext cx="3503066" cy="2148840"/>
          </a:xfrm>
          <a:prstGeom prst="roundRect">
            <a:avLst>
              <a:gd name="adj" fmla="val 5106"/>
            </a:avLst>
          </a:prstGeom>
          <a:solidFill>
            <a:srgbClr val="3A1F16"/>
          </a:solidFill>
          <a:ln w="25400">
            <a:solidFill>
              <a:srgbClr val="EF8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00346" y="2907792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B39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ผู้ใช้รถเข็น ต้องเดินเพิ่ม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00346" y="3383280"/>
            <a:ext cx="2991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F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+203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4600346" y="431596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B39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เมตร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1701" y="2697480"/>
            <a:ext cx="3503066" cy="2148840"/>
          </a:xfrm>
          <a:prstGeom prst="roundRect">
            <a:avLst>
              <a:gd name="adj" fmla="val 5106"/>
            </a:avLst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77733" y="2907792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ต่างกัน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377733" y="3383280"/>
            <a:ext cx="299100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A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25x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8377733" y="4315968"/>
            <a:ext cx="29910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เท่า · จากการปิดจุดเดียว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206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B6C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ระบบคำนวณให้ก่อนกดยืนยัน · ปิดลิฟต์อีกตัวหนึ่ง ผู้ใช้รถเข็นไปไม่ถึงเลย 32 เส้นทาง ขณะที่คนเดินอ้อมแค่ 6 เมตร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แผนของผู้ป่วยเป็นกราฟ ไม่ใช่รายการเรียงบรรทัด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53689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755648"/>
            <a:ext cx="489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ขั้นที่ไม่ผูกเงื่อนไขกัน สลับก่อนหลังได้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377440"/>
            <a:ext cx="48934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“ชั่งน้ำหนัก” กับ “เจาะเลือด” ต่างก็ทำหลังยื่นบัตรได้ทั้งคู่ ระบบจึงเลือกได้ว่าจะไปไหนก่อน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55868" y="1554480"/>
            <a:ext cx="5368900" cy="2103120"/>
          </a:xfrm>
          <a:prstGeom prst="roundRect">
            <a:avLst>
              <a:gd name="adj" fmla="val 5217"/>
            </a:avLst>
          </a:prstGeom>
          <a:solidFill>
            <a:srgbClr val="FBF1DF"/>
          </a:solidFill>
          <a:ln w="12700">
            <a:solidFill>
              <a:srgbClr val="B879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3612" y="1755648"/>
            <a:ext cx="489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ผู้ป่วยงดอาหารมา ต้องเจาะเลือดก่อน 11:00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3612" y="2377440"/>
            <a:ext cx="48934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4A22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มาถึง 10:40 เวลาไม่พอถ้าเดินตามลำดับปกติ ระบบยกเจาะเลือดขึ้นมาก่อน พร้อมบอกเหตุผลกับผู้ป่วยตรง 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3977640"/>
            <a:ext cx="11057839" cy="1508760"/>
          </a:xfrm>
          <a:prstGeom prst="roundRect">
            <a:avLst>
              <a:gd name="adj" fmla="val 7273"/>
            </a:avLst>
          </a:prstGeom>
          <a:solidFill>
            <a:srgbClr val="0F2730"/>
          </a:solidFill>
          <a:ln w="12700">
            <a:solidFill>
              <a:srgbClr val="0F27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44348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+256 ม.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4297680"/>
            <a:ext cx="78574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E3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การสลับลำดับนี้ทำให้เดินไกลขึ้น ไม่ใช่สั้นลง — ระบบยอมแลก เพื่อไม่ให้ผู้ป่วยอดข้าวมาเสียเปล่าแล้วต้องกลับมาใหม่อีกวัน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ออกแบบให้คนที่ไม่มีมือถือใช้ได้จริง ไม่ใช่เขียนไว้ในสไลด์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บัตรกระดาษพิมพ์ครบ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เลขคิว คิวอาร์ รหัส 8 ตัว และขั้นตอนทั้งวัน อยู่บนบัตรใบเดียว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8538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26282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พิมพ์รหัสแทนสแกน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26282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กล้องเสียหรือบัตรเปียก พิมพ์รหัสที่หน้าแรกของระบบได้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0148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7892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โต๊ะช่วยเหลือ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47892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เดินมาถามแล้วแจ้งเลขคิว เจ้าหน้าที่ยืนยันตำแหน่งให้ได้ทันที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31757" y="1737360"/>
            <a:ext cx="2593010" cy="2743200"/>
          </a:xfrm>
          <a:prstGeom prst="roundRect">
            <a:avLst>
              <a:gd name="adj" fmla="val 4232"/>
            </a:avLst>
          </a:prstGeom>
          <a:solidFill>
            <a:srgbClr val="E4F0F4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69501" y="1938528"/>
            <a:ext cx="2117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พิมพ์ใบเส้นทางให้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269501" y="2560320"/>
            <a:ext cx="211752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คำสั่งเลี้ยวทีละข้อ ปรับตามรถเข็นของคนนั้น ถือเดินได้เลย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937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ผู้ป่วยที่ปฏิเสธใช้ระบบนี้ ยังได้รับบริการเท่าเดิมทุกอย่าง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6F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40080"/>
            <a:ext cx="1105783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ห้าภาษา รวมภาษาเมียนมา</a:t>
            </a:r>
            <a:endParaRPr lang="en-US" sz="3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ซึ่งคือแรงงานส่วนใหญ่ในภูเก็ต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2468880"/>
            <a:ext cx="2065264" cy="1280160"/>
          </a:xfrm>
          <a:prstGeom prst="roundRect">
            <a:avLst>
              <a:gd name="adj" fmla="val 7143"/>
            </a:avLst>
          </a:prstGeom>
          <a:solidFill>
            <a:srgbClr val="17566C"/>
          </a:solidFill>
          <a:ln w="12700">
            <a:solidFill>
              <a:srgbClr val="17566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269748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200400"/>
            <a:ext cx="169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E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ฉบับอ้างอิง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15072" y="2468880"/>
            <a:ext cx="2065264" cy="1280160"/>
          </a:xfrm>
          <a:prstGeom prst="roundRect">
            <a:avLst>
              <a:gd name="adj" fmla="val 7143"/>
            </a:avLst>
          </a:prstGeom>
          <a:solidFill>
            <a:srgbClr val="17566C"/>
          </a:solidFill>
          <a:ln w="12700">
            <a:solidFill>
              <a:srgbClr val="1756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7952" y="269748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English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997952" y="3200400"/>
            <a:ext cx="169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E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นักท่องเที่ยว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63216" y="2468880"/>
            <a:ext cx="2065264" cy="1280160"/>
          </a:xfrm>
          <a:prstGeom prst="roundRect">
            <a:avLst>
              <a:gd name="adj" fmla="val 7143"/>
            </a:avLst>
          </a:prstGeom>
          <a:solidFill>
            <a:srgbClr val="17566C"/>
          </a:solidFill>
          <a:ln w="12700">
            <a:solidFill>
              <a:srgbClr val="1756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46096" y="269748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中文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46096" y="3200400"/>
            <a:ext cx="169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E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จีน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1360" y="2468880"/>
            <a:ext cx="2065264" cy="1280160"/>
          </a:xfrm>
          <a:prstGeom prst="roundRect">
            <a:avLst>
              <a:gd name="adj" fmla="val 7143"/>
            </a:avLst>
          </a:prstGeom>
          <a:solidFill>
            <a:srgbClr val="17566C"/>
          </a:solidFill>
          <a:ln w="12700">
            <a:solidFill>
              <a:srgbClr val="1756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4240" y="269748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မြန်မာ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494240" y="3200400"/>
            <a:ext cx="169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E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เมียนมา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559503" y="2468880"/>
            <a:ext cx="2065264" cy="1280160"/>
          </a:xfrm>
          <a:prstGeom prst="roundRect">
            <a:avLst>
              <a:gd name="adj" fmla="val 7143"/>
            </a:avLst>
          </a:prstGeom>
          <a:solidFill>
            <a:srgbClr val="17566C"/>
          </a:solidFill>
          <a:ln w="12700">
            <a:solidFill>
              <a:srgbClr val="1756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42383" y="2697480"/>
            <a:ext cx="169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Русский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742383" y="3200400"/>
            <a:ext cx="169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DE7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รัสเซีย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2062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endParaRPr lang="en-US" sz="4200" dirty="0"/>
          </a:p>
        </p:txBody>
      </p:sp>
      <p:sp>
        <p:nvSpPr>
          <p:cNvPr id="19" name="Text 17"/>
          <p:cNvSpPr txBox="1"/>
          <p:nvPr/>
        </p:nvSpPr>
        <p:spPr>
          <a:xfrm>
            <a:off x="2075688" y="4206240"/>
            <a:ext cx="954907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6EAF1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ข้อความต่อภาษา — คำสั่งนำทางไม่ได้เขียนเป็นประโยคตายตัว แต่ประกอบจากข้อมูลเส้นทาง เพิ่มภาษาที่หกจึงแปลแค่ชุดนี้ชุดเดียว ไม่ต้องแตะผังเลย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ข้อมูลที่ไม่ได้เก็บ คือข้อมูลที่รั่วไม่ได้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645920"/>
            <a:ext cx="3503066" cy="2926080"/>
          </a:xfrm>
          <a:prstGeom prst="roundRect">
            <a:avLst>
              <a:gd name="adj" fmla="val 3750"/>
            </a:avLst>
          </a:prstGeom>
          <a:solidFill>
            <a:srgbClr val="E4F2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84708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ตาราง patients มีสามคอลัมน์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468880"/>
            <a:ext cx="302757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เลขประจำตัวผู้ป่วย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ชื่อที่ใช้เรียก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ภาษาที่อ่านได้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4314" y="1645920"/>
            <a:ext cx="3503066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184708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ไม่เก็บเลย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2468880"/>
            <a:ext cx="302757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เลขบัตรประชาชน เบอร์โทร ที่อยู่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ผลตรวจ การวินิจฉัย ประวัติการรักษา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พิกัด GPS และรูปถ่ายของผู้ป่วย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1701" y="1645920"/>
            <a:ext cx="3503066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9445" y="184708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มาตรการในโค้ด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359445" y="2468880"/>
            <a:ext cx="302757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บันทึกการเข้าถึงแก้และลบไม่ได้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ลิงก์ผู้ป่วยสุ่มและหมดอายุสิ้นวัน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จอสาธารณะมีแค่เลขคิว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ประกาศความเป็นส่วนตัวครบห้าภาษา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846320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ข้อมูลความต้องการพิเศษอาจเข้าข่ายข้อมูลอ่อนไหวตามมาตรา 26 ซึ่งต้องมีฐานทางกฎหมายเฉพาะ — ต้องยืนยันกับเจ้าหน้าที่คุ้มครองข้อมูลของโรงพยาบาล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7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สิ่งที่เราวัดแล้วไม่จริง จึงไม่เอามาอ้าง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08760"/>
            <a:ext cx="1105783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เราเคยคิดว่าระบบจะช่วยลดระยะเดิน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วัดแล้วได้ศูนย์เปอร์เซ็นต์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FE3E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ลำดับในแม่แบบบังเอิญเป็นลำดับที่สั้นที่สุดอยู่แล้ว ทั้งสองแบบได้ 616 เมตรเท่ากัน เราจึงตัดข้อนี้ออกจากทุกหน้าจอและทุกสไลด์ และบันทึกเหตุผลไว้ในประวัติการแก้โค้ด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48056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ด้วยเหตุผลเดียวกัน ทุกหน้าจอเขียนกำกับว่าผังชุดนี้เป็นผังสาธิต ไม่ใช่ผังจริงของโรงพยาบาลวชิระภูเก็ต และภาพประกอบก็ติดป้ายว่าไม่ใช่ภาพถ่ายจริง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สถานะจริงของระบบวันนี้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5368900" cy="3566160"/>
          </a:xfrm>
          <a:prstGeom prst="roundRect">
            <a:avLst>
              <a:gd name="adj" fmla="val 3077"/>
            </a:avLst>
          </a:prstGeom>
          <a:solidFill>
            <a:srgbClr val="E4F2EA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755648"/>
            <a:ext cx="489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ใช้งานได้จริงแล้ว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377440"/>
            <a:ext cx="48934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หน้าผู้ป่วยห้าภาษา พร้อมแผนที่ทีละชั้น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เวชระเบียน เปิด visit และพิมพ์บัตรคิว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จอจุดบริการที่ผูกกับมือถือผู้ป่วยจริง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โต๊ะช่วยเหลือ และการแจ้งเส้นทางชำรุด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ผังเส้นทางและผลกระทบเมื่อปิดเส้นทาง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20503A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โครงสร้างฐานข้อมูล 17 ตาราง และอัลกอริทึม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55868" y="1554480"/>
            <a:ext cx="53689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3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3612" y="1755648"/>
            <a:ext cx="48934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ยังเป็นแบบหน้าจอ และยังไม่ได้ทำ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93612" y="2377440"/>
            <a:ext cx="48934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นำเข้าผังจากไฟล์ CSV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ภาพรวมผู้บริหารและจุดคอขวด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จอเรียกคิวหน้าห้องตรวจ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ผู้ใช้และสิทธิ์ · บันทึกการใช้งาน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• REST API ที่ต่อฐานข้อมูลจริง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3492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ทุกเมนูในระบบติดป้ายไว้ตามความจริง กดแล้วไม่เงียบ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สิ่งที่เราขอจากโรงพยาบาล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1645920"/>
            <a:ext cx="3503066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4672" y="184708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01  ผังจริงหนึ่งชุด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04672" y="2468880"/>
            <a:ext cx="30275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ชื่ออาคาร ชั้น แผนก และห้อง แม้เป็นรูปถ่ายป้ายผังหน้าโรงพยาบาลก็พอ นำเข้าได้ทันที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4314" y="1645920"/>
            <a:ext cx="3503066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2058" y="184708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02  หนึ่งแผนกทดลองใช้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82058" y="2468880"/>
            <a:ext cx="30275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เริ่มที่แผนกเดียวที่ผู้ป่วยหลงบ่อยที่สุด วัดเวลารอก่อนและหลัง แล้วค่อยขยาย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1701" y="1645920"/>
            <a:ext cx="3503066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F6F8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9445" y="1847088"/>
            <a:ext cx="3027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730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03  คนของโรงพยาบาลร่วมตรวจ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359445" y="2468880"/>
            <a:ext cx="30275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C626C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เจ้าหน้าที่คุ้มครองข้อมูลตรวจประกาศความเป็นส่วนตัว และฝ่ายอาคารตรวจผัง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66344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F6F8B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ทั้งหมดนี้ไม่ต้องรื้อระบบเดิมของโรงพยาบาล เพราะ CarePath ไม่แตะเวชระเบียนอิเล็กทรอนิกส์ ไม่เก็บผลตรวจ และทำงานคู่ขนานกับบัตรคิวกระดาษที่ใช้อยู่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0"/>
            <a:ext cx="1105783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ผู้ป่วยไม่ควรต้องเก่งเรื่องโรงพยาบาล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4F8F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เพื่อจะได้รับการรักษา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291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DC8D6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ระบบเปิดใช้ได้เลยจากมือถือทุกเครื่อง ไม่ต้องติดตั้งแอป ไม่ต้องสมัครสมาชิก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" y="4480560"/>
            <a:ext cx="5368900" cy="1188720"/>
          </a:xfrm>
          <a:prstGeom prst="roundRect">
            <a:avLst>
              <a:gd name="adj" fmla="val 9231"/>
            </a:avLst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4681728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6C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ลองใช้ระบบ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5074920"/>
            <a:ext cx="482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carepath-vachira.nuttawoot-star.workers.dev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5868" y="4480560"/>
            <a:ext cx="5368900" cy="1188720"/>
          </a:xfrm>
          <a:prstGeom prst="roundRect">
            <a:avLst>
              <a:gd name="adj" fmla="val 9231"/>
            </a:avLst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0188" y="4681728"/>
            <a:ext cx="48202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6C9"/>
                </a:solidFill>
                <a:latin typeface="Sarabun" pitchFamily="34" charset="0"/>
                <a:ea typeface="Sarabun" pitchFamily="34" charset="-122"/>
                <a:cs typeface="Sarabun" pitchFamily="34" charset="-120"/>
              </a:rPr>
              <a:t>บัญชีสาธิตทุกบทบาท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0188" y="5074920"/>
            <a:ext cx="48202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· reg1 · lab1 · exec1 / demo@1234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CarePath — Hackathon 977-121</dc:title>
  <dc:subject>PptxGenJS Presentation</dc:subject>
  <dc:creator>CarePath</dc:creator>
  <cp:lastModifiedBy>CarePath</cp:lastModifiedBy>
  <cp:revision>1</cp:revision>
  <dcterms:created xsi:type="dcterms:W3CDTF">2026-09-19T16:49:58Z</dcterms:created>
  <dcterms:modified xsi:type="dcterms:W3CDTF">2026-09-19T16:49:58Z</dcterms:modified>
</cp:coreProperties>
</file>